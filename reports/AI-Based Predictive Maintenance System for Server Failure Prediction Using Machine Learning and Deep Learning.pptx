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></Relationship>
  <Relationship Id="rId2" Type="http://schemas.openxmlformats.org/package/2006/relationships/metadata/thumbnail" Target="docProps/thumbnail.jpeg"></Relationship>
  <Relationship Id="rId3" Type="http://schemas.openxmlformats.org/package/2006/relationships/metadata/core-properties" Target="docProps/core.xml"></Relationship>
  <Relationship Id="rId4" Type="http://schemas.openxmlformats.org/officeDocument/2006/relationships/extended-properties" Target="docProps/app.xml"></Relationship>
  <Relationship Id="rId5" Type="http://schemas.openxmlformats.org/officeDocument/2006/relationships/custom-properties" Target="docProps/custom.xml"></Relationship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29.png"/><Relationship Id="rId4" Type="http://schemas.openxmlformats.org/officeDocument/2006/relationships/image" Target="../media/image43.png"/><Relationship Id="rId5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Relationship Id="rId3" Type="http://schemas.openxmlformats.org/officeDocument/2006/relationships/image" Target="../media/image5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61.png"/><Relationship Id="rId4" Type="http://schemas.openxmlformats.org/officeDocument/2006/relationships/image" Target="../media/image11.png"/><Relationship Id="rId5" Type="http://schemas.openxmlformats.org/officeDocument/2006/relationships/image" Target="../media/image62.png"/><Relationship Id="rId6" Type="http://schemas.openxmlformats.org/officeDocument/2006/relationships/image" Target="../media/image6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50.png"/><Relationship Id="rId6" Type="http://schemas.openxmlformats.org/officeDocument/2006/relationships/image" Target="../media/image67.png"/><Relationship Id="rId7" Type="http://schemas.openxmlformats.org/officeDocument/2006/relationships/image" Target="../media/image6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Relationship Id="rId3" Type="http://schemas.openxmlformats.org/officeDocument/2006/relationships/image" Target="../media/image51.png"/><Relationship Id="rId4" Type="http://schemas.openxmlformats.org/officeDocument/2006/relationships/image" Target="../media/image7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Relationship Id="rId3" Type="http://schemas.openxmlformats.org/officeDocument/2006/relationships/image" Target="../media/image72.png"/><Relationship Id="rId4" Type="http://schemas.openxmlformats.org/officeDocument/2006/relationships/image" Target="../media/image73.png"/><Relationship Id="rId5" Type="http://schemas.openxmlformats.org/officeDocument/2006/relationships/image" Target="../media/image3.png"/><Relationship Id="rId6" Type="http://schemas.openxmlformats.org/officeDocument/2006/relationships/image" Target="../media/image74.png"/><Relationship Id="rId7" Type="http://schemas.openxmlformats.org/officeDocument/2006/relationships/image" Target="../media/image7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Relationship Id="rId3" Type="http://schemas.openxmlformats.org/officeDocument/2006/relationships/image" Target="../media/image77.png"/><Relationship Id="rId4" Type="http://schemas.openxmlformats.org/officeDocument/2006/relationships/image" Target="../media/image78.png"/><Relationship Id="rId5" Type="http://schemas.openxmlformats.org/officeDocument/2006/relationships/image" Target="../media/image7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Relationship Id="rId3" Type="http://schemas.openxmlformats.org/officeDocument/2006/relationships/image" Target="../media/image81.png"/><Relationship Id="rId4" Type="http://schemas.openxmlformats.org/officeDocument/2006/relationships/image" Target="../media/image82.png"/><Relationship Id="rId5" Type="http://schemas.openxmlformats.org/officeDocument/2006/relationships/image" Target="../media/image5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981150" y="-76200"/>
            <a:ext cx="8229394" cy="3095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4225"/>
              </a:lnSpc>
              <a:spcBef>
                <a:spcPts val="0"/>
              </a:spcBef>
              <a:spcAft>
                <a:spcPts val="520"/>
              </a:spcAft>
            </a:pPr>
            <a:r>
              <a:rPr sz="3109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AI-Based Predictive Maintenance System</a:t>
            </a:r>
            <a:r>
              <a:rPr sz="1104"/>
              <a:t>
</a:t>
            </a:r>
            <a:r>
              <a:rPr sz="3109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for Server Failure Prediction</a:t>
            </a:r>
            <a:r>
              <a:rPr sz="1104"/>
              <a:t>
</a:t>
            </a:r>
            <a:r>
              <a:rPr sz="3109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Using Machine Learning and Deep Learning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055" y="3733799"/>
            <a:ext cx="60958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COLLEGE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91055" y="3924299"/>
            <a:ext cx="60958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LOGO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1150" y="4838699"/>
            <a:ext cx="822939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[College Name]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1150" y="5219700"/>
            <a:ext cx="822939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Department of Computer Science and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81150" y="5524499"/>
            <a:ext cx="822939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Academic Year 2025-2026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5942" y="6095999"/>
            <a:ext cx="761980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</a:t>
            </a: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Team Members:</a:t>
            </a: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5942" y="6438899"/>
            <a:ext cx="358131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[Member 1 Name] - [Roll Number]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441" y="6438899"/>
            <a:ext cx="358131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[Member 3 Name] - [Roll Number]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5942" y="6705600"/>
            <a:ext cx="358131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[Member 2 Name] - [Roll Number]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441" y="6705600"/>
            <a:ext cx="358131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[Member 4 Name] - [Roll Number]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457200"/>
            <a:ext cx="1097252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584" y="1104900"/>
            <a:ext cx="914377" cy="38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1506192"/>
            <a:ext cx="266693" cy="2261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28674" y="1943100"/>
            <a:ext cx="4838579" cy="2857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Proactive approach to equipment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674" y="2305049"/>
            <a:ext cx="4838579" cy="2857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52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Uses data-driven techniques to predict failures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674" y="2667000"/>
            <a:ext cx="4838579" cy="2857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52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Shifts from reactive to predictive strategy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09584" y="3320290"/>
            <a:ext cx="266693" cy="21741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28674" y="3752849"/>
            <a:ext cx="4838579" cy="2857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Unpredictable server failures cause significant downtime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674" y="4114800"/>
            <a:ext cx="4838579" cy="2857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52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Reactive maintenance leads to business losses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674" y="4476750"/>
            <a:ext cx="4838579" cy="2857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52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Lack of intelligent failure prediction systems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324441" y="1514889"/>
            <a:ext cx="266693" cy="20872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43531" y="1943100"/>
            <a:ext cx="4838579" cy="2857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Minimizes unplanned downtime and service disruptions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43531" y="2305049"/>
            <a:ext cx="4838579" cy="2857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52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Reduces maintenance costs and resource allocation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3531" y="2667000"/>
            <a:ext cx="4838579" cy="2857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52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Enhances system reliability and availability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3531" y="3028950"/>
            <a:ext cx="4838579" cy="2857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52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Improves operational efficiency in IT infrastructure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324441" y="3690937"/>
            <a:ext cx="266693" cy="20002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743531" y="4114800"/>
            <a:ext cx="4838579" cy="2857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Develop AI-based predictive maintenance framework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3531" y="4476750"/>
            <a:ext cx="4838579" cy="2857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52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Implement hybrid ML/DL models for failure prediction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3531" y="4838699"/>
            <a:ext cx="4838579" cy="2857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52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Create explainable AI system with SHAP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3531" y="5200650"/>
            <a:ext cx="4838579" cy="2857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52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Deploy real-time risk assessment and monitoring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457200"/>
            <a:ext cx="1097252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Motivation and Need for the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584" y="1104900"/>
            <a:ext cx="914377" cy="38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1515207"/>
            <a:ext cx="304792" cy="246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28674" y="2009774"/>
            <a:ext cx="2981250" cy="5715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Unplanned outages disrupt business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674" y="2695575"/>
            <a:ext cx="2981250" cy="5715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78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Financial losses averaging $5,600/minute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674" y="3381375"/>
            <a:ext cx="2981250" cy="2857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78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Data loss and corruption 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674" y="3781424"/>
            <a:ext cx="2981250" cy="5715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78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Customer dissatisfaction and trust erosion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8674" y="4467224"/>
            <a:ext cx="2981250" cy="2857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78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Increased IT workload and stress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390915" y="1702044"/>
            <a:ext cx="304792" cy="23446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10004" y="2381250"/>
            <a:ext cx="2981250" cy="5715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Manual monitoring is error-prone and inefficient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0004" y="3067050"/>
            <a:ext cx="2981250" cy="5715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78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Traditional threshold alerts generate false positives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0004" y="3752849"/>
            <a:ext cx="2981250" cy="5715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78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Complex patterns require intelligent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0004" y="4438649"/>
            <a:ext cx="2981250" cy="5715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78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Real-time anomaly detection essential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10004" y="5124449"/>
            <a:ext cx="2981250" cy="2857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78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Automated decision-making needed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181770" y="1697648"/>
            <a:ext cx="304792" cy="24325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600859" y="2381250"/>
            <a:ext cx="2981250" cy="2857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24/7 availability requirements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0859" y="2781300"/>
            <a:ext cx="2981250" cy="5715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78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Preventive maintenance extends equipment life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00859" y="3467100"/>
            <a:ext cx="2981250" cy="2857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78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Optimizes resource allocation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00859" y="3867149"/>
            <a:ext cx="2981250" cy="2857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78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Reduces operational costs by 25-30%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00859" y="4267199"/>
            <a:ext cx="2981250" cy="2857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78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Enables proactive capacity planning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6278" y="5943600"/>
            <a:ext cx="10705832" cy="6286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"Predictive maintenance transforms reactive IT operations into proactive intelligence, ensuring system reliability and business continuity."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457200"/>
            <a:ext cx="1097252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Literature Review / Existing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584" y="1104900"/>
            <a:ext cx="914377" cy="38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1710836"/>
            <a:ext cx="304792" cy="2168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28674" y="2381250"/>
            <a:ext cx="2981250" cy="5715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Threshold-based alerting mechanisms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674" y="3067050"/>
            <a:ext cx="2981250" cy="2857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78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Rule-based monitoring dashboards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674" y="3467100"/>
            <a:ext cx="2981250" cy="2857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78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SNMP and agent-based monitoring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674" y="3867149"/>
            <a:ext cx="2981250" cy="2857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78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Manual log analysis and inspection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8674" y="4267199"/>
            <a:ext cx="2981250" cy="2857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78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Periodic health checks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390915" y="1690321"/>
            <a:ext cx="304792" cy="25790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10004" y="2381250"/>
            <a:ext cx="2981250" cy="5715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Failures detected only after occurrence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0004" y="3067050"/>
            <a:ext cx="2981250" cy="5715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78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High repair costs and extended downtime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0004" y="3752849"/>
            <a:ext cx="2981250" cy="2857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78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Data loss during unexpected failures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0004" y="4152899"/>
            <a:ext cx="2981250" cy="5715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78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Inability to predict complex failure patterns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10004" y="4838699"/>
            <a:ext cx="2981250" cy="2857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78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Resource allocation inefficiencies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181770" y="1521069"/>
            <a:ext cx="304792" cy="23446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600859" y="2009774"/>
            <a:ext cx="2981250" cy="5715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Supervised learning classifiers (SVM, RF)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0859" y="2695575"/>
            <a:ext cx="2981250" cy="5715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78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Anomaly detection with autoencoders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00859" y="3381375"/>
            <a:ext cx="2981250" cy="5715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78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LSTM networks for time-series forecasting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00859" y="4067174"/>
            <a:ext cx="2981250" cy="2857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78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Limited model interpretability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00859" y="4467224"/>
            <a:ext cx="2981250" cy="5715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78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Lack of hybrid monitoring frameworks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6278" y="5810249"/>
            <a:ext cx="10705832" cy="6286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"Current systems lack intelligent predictive capabilities and explainability, creating a gap for AI-driven proactive monitoring solutions."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457200"/>
            <a:ext cx="1097252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Proposed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584" y="1104900"/>
            <a:ext cx="914377" cy="38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1490296"/>
            <a:ext cx="304792" cy="2960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28674" y="2009774"/>
            <a:ext cx="4838579" cy="2857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Automated telemetry data collection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674" y="2409825"/>
            <a:ext cx="4838579" cy="2857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78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Real-time feature extraction and 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674" y="2809875"/>
            <a:ext cx="4838579" cy="2857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78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Hybrid ML/DL model ensemble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674" y="3209925"/>
            <a:ext cx="4838579" cy="2857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78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Continuous model retraining mechanism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8674" y="3609975"/>
            <a:ext cx="4838579" cy="2857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78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Explainable AI integration for transparency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324441" y="1526930"/>
            <a:ext cx="304792" cy="22273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43531" y="2009774"/>
            <a:ext cx="4838579" cy="2857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ML predictions combined with operational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43531" y="2409825"/>
            <a:ext cx="4838579" cy="2857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78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Multi-level risk classification (Low/Medium/High)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3531" y="2809875"/>
            <a:ext cx="4838579" cy="2857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78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Dynamic threshold adjustment based on patterns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43531" y="3209925"/>
            <a:ext cx="4838579" cy="2857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78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Context-aware failure probability estimation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3531" y="3609975"/>
            <a:ext cx="4838579" cy="2857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78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Automated alerting with severity levels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09584" y="4252546"/>
            <a:ext cx="304792" cy="25790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90595" y="4924424"/>
            <a:ext cx="303839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Data Ingestion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90595" y="5324474"/>
            <a:ext cx="3038399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Server telemetry capture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90595" y="5657850"/>
            <a:ext cx="3038399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Real-time streaming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90595" y="5991225"/>
            <a:ext cx="3038399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Historical data 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81430" y="4924424"/>
            <a:ext cx="303839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Prediction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81430" y="5324474"/>
            <a:ext cx="3038399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Failure probability scoring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81430" y="5657850"/>
            <a:ext cx="3038399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Time-to-failure estimation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81430" y="5991225"/>
            <a:ext cx="3038399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Risk level assignment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1790" y="4924424"/>
            <a:ext cx="303839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Deployment Interface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1790" y="5324474"/>
            <a:ext cx="3038399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Streamlit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1790" y="5657850"/>
            <a:ext cx="3038399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Interactive visualizations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1790" y="5991225"/>
            <a:ext cx="3038399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Real-time monitoring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457200"/>
            <a:ext cx="1097252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System Architecture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584" y="1104900"/>
            <a:ext cx="914377" cy="38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" y="1924049"/>
            <a:ext cx="2009724" cy="1809749"/>
          </a:xfrm>
          <a:prstGeom prst="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447763" y="2107652"/>
            <a:ext cx="342891" cy="2423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2931" y="2476499"/>
            <a:ext cx="1743031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Data Collection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29" y="2838450"/>
            <a:ext cx="1666833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Server telemetry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29" y="3105149"/>
            <a:ext cx="1666833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System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29" y="3371850"/>
            <a:ext cx="1666833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Error logs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47903" y="1924049"/>
            <a:ext cx="2009724" cy="1809749"/>
          </a:xfrm>
          <a:prstGeom prst="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3686082" y="2069224"/>
            <a:ext cx="342891" cy="31925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981250" y="2476499"/>
            <a:ext cx="1743031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Preprocessing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7448" y="2838450"/>
            <a:ext cx="1666833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Data cleaning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57448" y="3105149"/>
            <a:ext cx="1666833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Feature extraction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7448" y="3371850"/>
            <a:ext cx="1666833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Normalization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86222" y="1924049"/>
            <a:ext cx="2009724" cy="1809749"/>
          </a:xfrm>
          <a:prstGeom prst="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924401" y="2095828"/>
            <a:ext cx="342891" cy="26604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219569" y="2476499"/>
            <a:ext cx="1743031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ML/DL Models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5767" y="2838450"/>
            <a:ext cx="1666833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Random Forest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95767" y="3105149"/>
            <a:ext cx="1666833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XGBoost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95767" y="3371850"/>
            <a:ext cx="1666833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LSTM / Autoencoder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34066" y="1924049"/>
            <a:ext cx="2009724" cy="1809749"/>
          </a:xfrm>
          <a:prstGeom prst="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162720" y="2095828"/>
            <a:ext cx="342891" cy="26604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467413" y="2476499"/>
            <a:ext cx="1743031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Prediction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611" y="2838450"/>
            <a:ext cx="1666833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Risk scoring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611" y="3105149"/>
            <a:ext cx="1666833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Failure probability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611" y="3371850"/>
            <a:ext cx="1666833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Time estimation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72385" y="1924049"/>
            <a:ext cx="2009724" cy="1809749"/>
          </a:xfrm>
          <a:prstGeom prst="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0401039" y="2095828"/>
            <a:ext cx="342891" cy="266043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705732" y="2476499"/>
            <a:ext cx="1743031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Deployment UI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1930" y="2838450"/>
            <a:ext cx="1666833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Streamlit dashboard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1930" y="3105149"/>
            <a:ext cx="1666833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Real-time alerts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1930" y="3371850"/>
            <a:ext cx="1666833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Risk visualization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48023" y="3962399"/>
            <a:ext cx="1800179" cy="1809749"/>
          </a:xfrm>
          <a:prstGeom prst="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4781430" y="4146002"/>
            <a:ext cx="342891" cy="24239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181370" y="4514850"/>
            <a:ext cx="1533486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Hybrid Rule Engine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57568" y="4876800"/>
            <a:ext cx="1457288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Operational rules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57568" y="5143500"/>
            <a:ext cx="1457288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Risk thresholds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7568" y="5410199"/>
            <a:ext cx="1457288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Decision logic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10124" y="4686300"/>
            <a:ext cx="133346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+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86342" y="3962399"/>
            <a:ext cx="1847803" cy="1809749"/>
          </a:xfrm>
          <a:prstGeom prst="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7038799" y="4120876"/>
            <a:ext cx="342891" cy="29264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419689" y="4514850"/>
            <a:ext cx="1581110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Model Training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5887" y="4876800"/>
            <a:ext cx="1504912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Hyperparameter tuning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5887" y="5143500"/>
            <a:ext cx="1504912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Cross-validation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5887" y="5410199"/>
            <a:ext cx="1504912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SHAP analysis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6278" y="6000750"/>
            <a:ext cx="10705832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"End-to-end workflow from data ingestion to real-time risk assessment with explainable AI integration"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457200"/>
            <a:ext cx="1097252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Dataset Description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584" y="1104900"/>
            <a:ext cx="914377" cy="38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1444869"/>
            <a:ext cx="304792" cy="2344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28674" y="1933574"/>
            <a:ext cx="4838579" cy="2857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19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Source:</a:t>
            </a: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Kaggle Server Telemetry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674" y="2333624"/>
            <a:ext cx="4838579" cy="2857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78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19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Total Records:</a:t>
            </a: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50,000 entries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674" y="2733674"/>
            <a:ext cx="4838579" cy="2857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78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19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Time Period:</a:t>
            </a: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6 months of server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674" y="3133724"/>
            <a:ext cx="4838579" cy="2857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78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19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Data Type:</a:t>
            </a: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Numerical and categorical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8674" y="3533774"/>
            <a:ext cx="4838579" cy="2857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78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19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Target Variable:</a:t>
            </a: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Failure/Downtime (Binary)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324441" y="1439007"/>
            <a:ext cx="304792" cy="2461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43531" y="1933574"/>
            <a:ext cx="4838579" cy="2857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Failure cases: 25,000 (50%)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43531" y="2333624"/>
            <a:ext cx="4838579" cy="2857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78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Normal cases: 25,000 (50%)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3531" y="2733674"/>
            <a:ext cx="4838579" cy="2857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78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Balanced to avoid model bias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43531" y="3133724"/>
            <a:ext cx="4838579" cy="2857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78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Ensures equal representation of both classes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3531" y="3533774"/>
            <a:ext cx="4838579" cy="2857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78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Improves recall for failure detection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09584" y="4188069"/>
            <a:ext cx="304792" cy="23446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457200"/>
            <a:ext cx="1097252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Data Preprocessing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584" y="1104900"/>
            <a:ext cx="914377" cy="38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1433146"/>
            <a:ext cx="304792" cy="2579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28674" y="1933574"/>
            <a:ext cx="4876678" cy="2857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Converted timestamp to datetime format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674" y="2333624"/>
            <a:ext cx="4876678" cy="2857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78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Extracted temporal features (hour, day, month)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674" y="2733674"/>
            <a:ext cx="4876678" cy="2857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78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Created time-based cyclic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674" y="3133724"/>
            <a:ext cx="4876678" cy="2857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78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Removed original timestamp column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09584" y="3776296"/>
            <a:ext cx="304792" cy="25790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28674" y="4286250"/>
            <a:ext cx="4876678" cy="2857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Derived statistical features (mean, variance)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674" y="4686300"/>
            <a:ext cx="4876678" cy="2857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78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Created interaction terms between 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674" y="5086350"/>
            <a:ext cx="4876678" cy="2857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78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Generated rolling window statistics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674" y="5486400"/>
            <a:ext cx="4876678" cy="2857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78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Computed ratio features (CPU/Memory ratio)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286342" y="1453661"/>
            <a:ext cx="304792" cy="21687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05432" y="1933574"/>
            <a:ext cx="4876678" cy="2857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Identified and removed data leakage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05432" y="2333624"/>
            <a:ext cx="4876678" cy="2857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78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Excluded future-looking timestamps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5432" y="2733674"/>
            <a:ext cx="4876678" cy="2857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78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Dropped post-failure indicators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5432" y="3133724"/>
            <a:ext cx="4876678" cy="2857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78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Ensured temporal integrity of dataset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286342" y="3804138"/>
            <a:ext cx="304792" cy="20222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705432" y="4286250"/>
            <a:ext cx="2114497" cy="2857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Correlation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5432" y="4686300"/>
            <a:ext cx="2114497" cy="5715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78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Variance threshold filtering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05432" y="5372100"/>
            <a:ext cx="2114497" cy="5715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78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Mutual information scoring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5432" y="6057900"/>
            <a:ext cx="2114497" cy="5715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78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Selected top predictive features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048523" y="3796811"/>
            <a:ext cx="304792" cy="21687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467613" y="4286250"/>
            <a:ext cx="2114497" cy="2857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80% training, 20% testing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7613" y="4686300"/>
            <a:ext cx="2114497" cy="5715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78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Stratified sampling applied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7613" y="5372100"/>
            <a:ext cx="2114497" cy="5715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78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Random state fixed for reproducibility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7613" y="6057900"/>
            <a:ext cx="2114497" cy="5715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78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Preserved class distribution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457200"/>
            <a:ext cx="1097252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Exploratory Data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584" y="1104900"/>
            <a:ext cx="914377" cy="38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" y="1371600"/>
            <a:ext cx="3505112" cy="1238249"/>
          </a:xfrm>
          <a:prstGeom prst="rect">
            <a:avLst/>
          </a:prstGeom>
          <a:solidFill>
            <a:srgbClr val="FAFAFA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2209744" y="1576021"/>
            <a:ext cx="304792" cy="2579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85882" y="1933574"/>
            <a:ext cx="1362040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Failure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14477" y="2228850"/>
            <a:ext cx="895327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Balanced 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" y="2724150"/>
            <a:ext cx="350511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Equal distribution of failure/normal cases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" y="2952750"/>
            <a:ext cx="350511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Prevents model bias toward majority class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291" y="1371600"/>
            <a:ext cx="3505112" cy="1238249"/>
          </a:xfrm>
          <a:prstGeom prst="rect">
            <a:avLst/>
          </a:prstGeom>
          <a:solidFill>
            <a:srgbClr val="FAFAFA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943451" y="1576021"/>
            <a:ext cx="304792" cy="25790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71965" y="1933574"/>
            <a:ext cx="1438239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Correlation Heatmap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3886" y="2228850"/>
            <a:ext cx="1114397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Feature relationships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291" y="2724150"/>
            <a:ext cx="350511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Strong correlation between error rate and failure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291" y="2952750"/>
            <a:ext cx="350511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CPU and memory usage moderately correlated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76998" y="1371600"/>
            <a:ext cx="3505112" cy="1238249"/>
          </a:xfrm>
          <a:prstGeom prst="rect">
            <a:avLst/>
          </a:prstGeom>
          <a:solidFill>
            <a:srgbClr val="FAFAFA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677158" y="1617051"/>
            <a:ext cx="304792" cy="17584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458088" y="1933574"/>
            <a:ext cx="742931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KDE Plots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6167" y="2228850"/>
            <a:ext cx="1066773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Distribution density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76998" y="2724150"/>
            <a:ext cx="350511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Clear separation in error rate distributions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76998" y="2952750"/>
            <a:ext cx="350511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Overlapping CPU/memory patterns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584" y="3409950"/>
            <a:ext cx="3505112" cy="1238249"/>
          </a:xfrm>
          <a:prstGeom prst="rect">
            <a:avLst/>
          </a:prstGeom>
          <a:solidFill>
            <a:srgbClr val="FAFAFA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2209744" y="3649540"/>
            <a:ext cx="304792" cy="18756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962100" y="3971925"/>
            <a:ext cx="790555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Histograms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09704" y="4267199"/>
            <a:ext cx="1104872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Feature distributions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584" y="4762500"/>
            <a:ext cx="350511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Skewed distributions in disk IO and latency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584" y="4991100"/>
            <a:ext cx="350511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Bimodal patterns in certain features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291" y="3409950"/>
            <a:ext cx="3505112" cy="1238249"/>
          </a:xfrm>
          <a:prstGeom prst="rect">
            <a:avLst/>
          </a:prstGeom>
          <a:solidFill>
            <a:srgbClr val="FAFAFA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943451" y="3634886"/>
            <a:ext cx="304792" cy="21687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781530" y="3971925"/>
            <a:ext cx="619109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Boxplots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76758" y="4267199"/>
            <a:ext cx="838179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Outlier analysis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291" y="4762500"/>
            <a:ext cx="350511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Higher variance in failure scenarios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43291" y="4991100"/>
            <a:ext cx="350511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Outliers present in network latency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3691" y="3638550"/>
            <a:ext cx="323841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Key Insights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43691" y="4000500"/>
            <a:ext cx="3238419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Error rate shows strongest predictive signal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43691" y="4305300"/>
            <a:ext cx="3238419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Temporal patterns influence failure likelihood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43691" y="4610099"/>
            <a:ext cx="3238419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Feature interactions enhance discrimination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457200"/>
            <a:ext cx="1097252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Feature Importance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584" y="1104900"/>
            <a:ext cx="914377" cy="38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1468315"/>
            <a:ext cx="304792" cy="18756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285942" y="1933574"/>
            <a:ext cx="3400339" cy="1904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980" y="1933574"/>
            <a:ext cx="142871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Error Rate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5942" y="2238375"/>
            <a:ext cx="2438339" cy="1904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1980" y="2238375"/>
            <a:ext cx="142871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Disk IO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5942" y="2543175"/>
            <a:ext cx="1933526" cy="1904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980" y="2543175"/>
            <a:ext cx="142871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Network Latency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5942" y="2847974"/>
            <a:ext cx="1504912" cy="1904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1980" y="2847974"/>
            <a:ext cx="142871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Memory Usage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5942" y="3152775"/>
            <a:ext cx="1114397" cy="1904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1980" y="3152775"/>
            <a:ext cx="142871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CPU Usage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5942" y="3457575"/>
            <a:ext cx="790555" cy="1904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1980" y="3457575"/>
            <a:ext cx="142871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Hour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324441" y="1449265"/>
            <a:ext cx="304792" cy="22566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553036" y="1933574"/>
            <a:ext cx="5029074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Error Rate (Strongest Predictor)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36" y="2257425"/>
            <a:ext cx="5029074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26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Direct indicator of system instability and imminent failure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36" y="2667000"/>
            <a:ext cx="5029074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Disk 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036" y="2990849"/>
            <a:ext cx="5029074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26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High IO operations suggest resource exhaustion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036" y="3400425"/>
            <a:ext cx="5029074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Network Latency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3036" y="3724274"/>
            <a:ext cx="5029074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26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Increased latency indicates potential connectivity issues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3036" y="4133849"/>
            <a:ext cx="5029074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Memory Usage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3036" y="4457700"/>
            <a:ext cx="5029074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26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High memory consumption precedes system crashes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53036" y="4867274"/>
            <a:ext cx="5029074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CPU Usage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53036" y="5191125"/>
            <a:ext cx="5029074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26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Sustained high CPU load signals processing bottlenecks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457200"/>
            <a:ext cx="1097252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Machine Learning Models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584" y="1104900"/>
            <a:ext cx="914377" cy="38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1480644"/>
            <a:ext cx="342891" cy="2010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2971" y="1371600"/>
            <a:ext cx="3724181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780"/>
              </a:spcAft>
            </a:pPr>
            <a:r>
              <a:rPr sz="1554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Logistic Regression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2971" y="1857375"/>
            <a:ext cx="3724181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Linear classification algorithm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2971" y="2190749"/>
            <a:ext cx="3724181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Models probability of failure using logistic function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2971" y="2524125"/>
            <a:ext cx="3724181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Provides interpretable coefficients for feature 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2971" y="2857500"/>
            <a:ext cx="3724181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Baseline model for comparison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324441" y="1448128"/>
            <a:ext cx="342891" cy="26604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7828" y="1371600"/>
            <a:ext cx="3800379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780"/>
              </a:spcAft>
            </a:pPr>
            <a:r>
              <a:rPr sz="1554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Decision Tree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7828" y="1857375"/>
            <a:ext cx="3800379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Non-parametric supervised learning method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7828" y="2190749"/>
            <a:ext cx="3800379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Creates tree-like model of decisions based on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7828" y="2524125"/>
            <a:ext cx="3800379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Captures non-linear relationships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7828" y="2857500"/>
            <a:ext cx="3800379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Prone to overfitting without constraints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09584" y="3484179"/>
            <a:ext cx="342891" cy="28969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42971" y="3419474"/>
            <a:ext cx="4295667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780"/>
              </a:spcAft>
            </a:pPr>
            <a:r>
              <a:rPr sz="1554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Random Forest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2971" y="3905249"/>
            <a:ext cx="4295667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Ensemble of decision trees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2971" y="4238624"/>
            <a:ext cx="4295667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Reduces overfitting through bagging and feature randomness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2971" y="4572000"/>
            <a:ext cx="4295667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Handles high-dimensional data effectively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2971" y="4905375"/>
            <a:ext cx="4295667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Provides feature importance ranking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324441" y="3496003"/>
            <a:ext cx="342891" cy="26604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857828" y="3419474"/>
            <a:ext cx="3676558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780"/>
              </a:spcAft>
            </a:pPr>
            <a:r>
              <a:rPr sz="1554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Optimized Random Forest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7828" y="3905249"/>
            <a:ext cx="3676558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Hyperparameter-tuned version using GridSearchCV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7828" y="4238624"/>
            <a:ext cx="3676558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Optimized number of trees and max depth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7828" y="4572000"/>
            <a:ext cx="3676558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Best performing model with F1 ≈ 0.83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7828" y="4905375"/>
            <a:ext cx="3676558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High recall (≈0.99) for failure detection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3781330" y="5585262"/>
            <a:ext cx="342891" cy="18327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14717" y="5467349"/>
            <a:ext cx="4105172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780"/>
              </a:spcAft>
            </a:pPr>
            <a:r>
              <a:rPr sz="1554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XGBoost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14717" y="5953124"/>
            <a:ext cx="4105172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Gradient boosting framework for efficient implementation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14717" y="6286500"/>
            <a:ext cx="4105172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Sequential building of trees to correct previous errors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14717" y="6619875"/>
            <a:ext cx="4105172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Handles missing values and provides regularization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14717" y="6953249"/>
            <a:ext cx="4105172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Second-best performer with balanced precision and recall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457200"/>
            <a:ext cx="1097252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Deep Learning Models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584" y="1104900"/>
            <a:ext cx="914377" cy="38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2009724" y="2108454"/>
            <a:ext cx="609584" cy="3169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52576" y="2838450"/>
            <a:ext cx="714357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730"/>
              </a:lnSpc>
              <a:spcBef>
                <a:spcPts val="0"/>
              </a:spcBef>
              <a:spcAft>
                <a:spcPts val="1300"/>
              </a:spcAft>
            </a:pPr>
            <a:r>
              <a:rPr sz="1674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LSTM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" y="3429000"/>
            <a:ext cx="340033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Long Short-Term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" y="3829050"/>
            <a:ext cx="3400339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Recurrent neural network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" y="4152899"/>
            <a:ext cx="3400339" cy="51435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Captures temporal dependencies in sequential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" y="4743450"/>
            <a:ext cx="3400339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Memory cells to store long-term information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" y="5086350"/>
            <a:ext cx="3400339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Suitable for time-series server telemetry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584" y="5410199"/>
            <a:ext cx="3400339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Mitigates vanishing gradient problem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791055" y="2084070"/>
            <a:ext cx="609584" cy="36575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10024" y="2838450"/>
            <a:ext cx="2171645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730"/>
              </a:lnSpc>
              <a:spcBef>
                <a:spcPts val="0"/>
              </a:spcBef>
              <a:spcAft>
                <a:spcPts val="1300"/>
              </a:spcAft>
            </a:pPr>
            <a:r>
              <a:rPr sz="1674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Bidirectional LSTM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90915" y="3429000"/>
            <a:ext cx="340033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Enhanced Temporal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0915" y="3829050"/>
            <a:ext cx="3400339" cy="51435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Processes data in both forward and backward directions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90915" y="4419600"/>
            <a:ext cx="3400339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Captures past and future context simultaneously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90915" y="4743450"/>
            <a:ext cx="3400339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Improved pattern recognition for anomalies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90915" y="5086350"/>
            <a:ext cx="3400339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Better understanding of temporal correlations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90915" y="5410199"/>
            <a:ext cx="3400339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Higher computational complexity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572385" y="1980437"/>
            <a:ext cx="609584" cy="57302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191395" y="2838450"/>
            <a:ext cx="1381090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730"/>
              </a:lnSpc>
              <a:spcBef>
                <a:spcPts val="0"/>
              </a:spcBef>
              <a:spcAft>
                <a:spcPts val="1300"/>
              </a:spcAft>
            </a:pPr>
            <a:r>
              <a:rPr sz="1674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Autoencoder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1770" y="3429000"/>
            <a:ext cx="340033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Anomaly Detection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1770" y="3829050"/>
            <a:ext cx="3400339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Unsupervised learning technique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1770" y="4152899"/>
            <a:ext cx="3400339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Learns normal system behavior patterns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1770" y="4495799"/>
            <a:ext cx="3400339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Identifies deviations as anomalies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1770" y="4819650"/>
            <a:ext cx="3400339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Encoder-decoder architecture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1770" y="5162550"/>
            <a:ext cx="3400339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Reconstruction error for failure detection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6278" y="6267449"/>
            <a:ext cx="1070583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Deep learning models were evaluated for their ability to capture complex temporal patterns and detect anomalies in server telemetry data.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457200"/>
            <a:ext cx="1097252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Model Training and Optimization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584" y="1104900"/>
            <a:ext cx="914377" cy="38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1444869"/>
            <a:ext cx="304792" cy="2344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28674" y="1371600"/>
            <a:ext cx="2371665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Hyperparameter Tuning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674" y="1895474"/>
            <a:ext cx="4876678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GridSearchCV for systematic parameter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674" y="2228850"/>
            <a:ext cx="4876678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5-fold cross-validation for robustness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674" y="2562224"/>
            <a:ext cx="4876678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Parameters: n_estimators, max_depth, min_samples_split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8674" y="2895600"/>
            <a:ext cx="4876678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Optimized for F1-score metric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09584" y="3509596"/>
            <a:ext cx="304792" cy="25790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28674" y="3457575"/>
            <a:ext cx="1476338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GridSearchCV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674" y="3981449"/>
            <a:ext cx="4876678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Exhaustive search over parameter combinations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674" y="4314825"/>
            <a:ext cx="4876678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Automated model selection 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674" y="4648200"/>
            <a:ext cx="4876678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Prevents manual tuning bias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674" y="4981574"/>
            <a:ext cx="4876678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Ensures optimal configuration discovery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286342" y="1444869"/>
            <a:ext cx="304792" cy="23446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705432" y="1371600"/>
            <a:ext cx="2600259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Model Evaluation Metrics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5432" y="1895474"/>
            <a:ext cx="4876678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Accuracy: Overall correctness of predictions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05432" y="2228850"/>
            <a:ext cx="4876678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Precision: True positives / (True + False positives)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5432" y="2562224"/>
            <a:ext cx="4876678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Recall: True positives / (True positives + False negatives)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5432" y="2895600"/>
            <a:ext cx="4876678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F1-Score: Harmonic mean of precision and recall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05432" y="3228975"/>
            <a:ext cx="4876678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ROC-AUC: Area under Receiver Operating Characteristic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286342" y="3864219"/>
            <a:ext cx="304792" cy="23446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705432" y="3790949"/>
            <a:ext cx="2085922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SHAP Explainability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05432" y="4314825"/>
            <a:ext cx="4876678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SHapley Additive exPlanations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05432" y="4648200"/>
            <a:ext cx="4876678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Interprets individual predictions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05432" y="4981574"/>
            <a:ext cx="4876678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Feature contribution 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05432" y="5314950"/>
            <a:ext cx="4876678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Model transparency and trust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6278" y="6267449"/>
            <a:ext cx="1070583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Hybrid rule engine combines ML predictions with operational domain knowledge for enhanced reliability.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457200"/>
            <a:ext cx="1097252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Performance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584" y="1104900"/>
            <a:ext cx="914377" cy="38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1436304"/>
            <a:ext cx="342891" cy="2896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2971" y="1371600"/>
            <a:ext cx="3314617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780"/>
              </a:spcAft>
            </a:pPr>
            <a:r>
              <a:rPr sz="1554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2971" y="1857375"/>
            <a:ext cx="3314617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Ratio of correct predictions to total predictions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2971" y="2190749"/>
            <a:ext cx="3314617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Formula: (TP + TN) / (TP + TN + FP + FN)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2971" y="2524125"/>
            <a:ext cx="3314617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Measures overall model correctness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2971" y="2857500"/>
            <a:ext cx="3314617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May be misleading with imbalanced datasets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324441" y="1443694"/>
            <a:ext cx="342891" cy="27491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7828" y="1371600"/>
            <a:ext cx="4286142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780"/>
              </a:spcAft>
            </a:pPr>
            <a:r>
              <a:rPr sz="1554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Precision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7828" y="1857375"/>
            <a:ext cx="4286142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Proportion of positive identifications that are actually correct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7828" y="2190749"/>
            <a:ext cx="4286142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Formula: TP / (TP + FP)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7828" y="2524125"/>
            <a:ext cx="4286142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Measures quality of positive predictions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7828" y="2857500"/>
            <a:ext cx="4286142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Important when false positives are costly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09584" y="3490091"/>
            <a:ext cx="342891" cy="27786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42971" y="3419474"/>
            <a:ext cx="3667033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780"/>
              </a:spcAft>
            </a:pPr>
            <a:r>
              <a:rPr sz="1554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2971" y="3905249"/>
            <a:ext cx="3667033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Proportion of actual positives identified correctly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2971" y="4238624"/>
            <a:ext cx="3667033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Formula: TP / (TP + FN)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2971" y="4572000"/>
            <a:ext cx="3667033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Measures ability to find all positive cases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2971" y="4905375"/>
            <a:ext cx="3667033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Critical for failure detection (missed failures costly)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324441" y="3490091"/>
            <a:ext cx="342891" cy="27786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857828" y="3419474"/>
            <a:ext cx="3924201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780"/>
              </a:spcAft>
            </a:pPr>
            <a:r>
              <a:rPr sz="1554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F1 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7828" y="3905249"/>
            <a:ext cx="3924201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Harmonic mean of precision and recall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7828" y="4238624"/>
            <a:ext cx="3924201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Formula: 2 × (Precision × Recall) / (Precision + Recall)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7828" y="4572000"/>
            <a:ext cx="3924201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Balances trade-off between precision and recall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7828" y="4905375"/>
            <a:ext cx="3924201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Better metric for imbalanced datasets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3286042" y="5549790"/>
            <a:ext cx="342891" cy="25421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819429" y="5467349"/>
            <a:ext cx="5095747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780"/>
              </a:spcAft>
            </a:pPr>
            <a:r>
              <a:rPr sz="1554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ROC-AUC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19429" y="5953124"/>
            <a:ext cx="5095747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Area Under Receiver Operating Characteristic Curve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19429" y="6286500"/>
            <a:ext cx="5095747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Measures model's ability to distinguish between classes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19429" y="6619875"/>
            <a:ext cx="5095747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Plot of True Positive Rate vs False Positive 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19429" y="6953249"/>
            <a:ext cx="5095747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Score of 1.0 represents perfect classifier, 0.5 represents random guessing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457200"/>
            <a:ext cx="1097252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Final Model Comparison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584" y="1104900"/>
            <a:ext cx="914377" cy="38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6278" y="6438899"/>
            <a:ext cx="10705832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Optimized Random Forest achieved the highest F1 Score (0.837) with exceptional recall (0.989), making it the most reliable model for failure prediction.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457200"/>
            <a:ext cx="1097252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Best Model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584" y="1104900"/>
            <a:ext cx="914377" cy="38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4241" y="1371600"/>
            <a:ext cx="3543211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1560"/>
              </a:spcAft>
            </a:pPr>
            <a:r>
              <a:rPr sz="1913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Optimized Random Forest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4241" y="2057400"/>
            <a:ext cx="1466813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F1 Score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4241" y="2390774"/>
            <a:ext cx="1466813" cy="971550"/>
          </a:xfrm>
          <a:prstGeom prst="rect">
            <a:avLst/>
          </a:prstGeom>
          <a:solidFill>
            <a:srgbClr val="F5F5F5"/>
          </a:solidFill>
          <a:ln w="2476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43311" y="2619374"/>
            <a:ext cx="1028674" cy="5048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0.837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639" y="2057400"/>
            <a:ext cx="1466813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Recall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639" y="2390774"/>
            <a:ext cx="1466813" cy="971550"/>
          </a:xfrm>
          <a:prstGeom prst="rect">
            <a:avLst/>
          </a:prstGeom>
          <a:solidFill>
            <a:srgbClr val="F5F5F5"/>
          </a:solidFill>
          <a:ln w="2476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19709" y="2619374"/>
            <a:ext cx="1028674" cy="5048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0.989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3811242"/>
            <a:ext cx="266693" cy="22611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90575" y="3743325"/>
            <a:ext cx="2485962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Performance Advantages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674" y="4305300"/>
            <a:ext cx="4876678" cy="51435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Ensemble Method:</a:t>
            </a: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Combines multiple decision trees to reduce overfitting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674" y="4933950"/>
            <a:ext cx="4876678" cy="51435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Feature Randomness:</a:t>
            </a: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Introduces diversity among trees for better generalization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674" y="5562600"/>
            <a:ext cx="4876678" cy="51435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Hyperparameter Tuning:</a:t>
            </a: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GridSearchCV optimized for F1-score metric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674" y="6191250"/>
            <a:ext cx="4876678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Robust to Noise:</a:t>
            </a: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Less sensitive to outliers in server telemetry data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286342" y="3819939"/>
            <a:ext cx="266693" cy="20872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667333" y="3743325"/>
            <a:ext cx="2886002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Why It Outperformed Others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05432" y="4305300"/>
            <a:ext cx="4876678" cy="51435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vs. Logistic Regression:</a:t>
            </a: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Captures non-linear relationships in telemetry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5432" y="4933950"/>
            <a:ext cx="4876678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vs. Single Decision Tree:</a:t>
            </a: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Reduces variance through aggregation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5432" y="5305425"/>
            <a:ext cx="4876678" cy="51435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vs. Deep Learning:</a:t>
            </a: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Better with tabular data and limited temporal dependencies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05432" y="5934075"/>
            <a:ext cx="4876678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vs. XGBoost:</a:t>
            </a: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Slightly higher recall critical for failure detection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6278" y="6753224"/>
            <a:ext cx="10705832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The Optimized Random Forest achieves near-perfect recall (0.989), ensuring almost all failures are detected while maintaining acceptable precision.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457200"/>
            <a:ext cx="1097252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Deep Learning Results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584" y="1104900"/>
            <a:ext cx="914377" cy="38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1480038"/>
            <a:ext cx="304792" cy="1641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28674" y="1371600"/>
            <a:ext cx="657208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LSTM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584" y="2057400"/>
            <a:ext cx="914377" cy="38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38259" y="1933574"/>
            <a:ext cx="1847803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Why It Underperformed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77" y="2333624"/>
            <a:ext cx="3152696" cy="51435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Limited Sequential Dependencies:</a:t>
            </a: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Server failure lacks strong temporal patterns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377" y="2924175"/>
            <a:ext cx="3152696" cy="51435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Feature Independence:</a:t>
            </a: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Telemetry metrics show weak temporal correlation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377" y="3514725"/>
            <a:ext cx="3152696" cy="51435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Insufficient Sequence Length:</a:t>
            </a: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Hourly data provides inadequate temporal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377" y="4105274"/>
            <a:ext cx="3152696" cy="51435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Overfitting Risk:</a:t>
            </a: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Small dataset size relative to model complexity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079" y="5057775"/>
            <a:ext cx="326699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F1 Score: 0.662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371865" y="1468315"/>
            <a:ext cx="304792" cy="18756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90955" y="1371600"/>
            <a:ext cx="981050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Bi-LSTM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1865" y="2057400"/>
            <a:ext cx="914377" cy="38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539" y="1933574"/>
            <a:ext cx="1323941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Why It Struggled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6658" y="2333624"/>
            <a:ext cx="3152696" cy="51435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No Future Context Benefit:</a:t>
            </a: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Future telemetry doesn't improve failure prediction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6658" y="2924175"/>
            <a:ext cx="3152696" cy="771525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Increased Complexity:</a:t>
            </a: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Additional parameters without proportional performance gain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6658" y="3771900"/>
            <a:ext cx="3152696" cy="51435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Training Instability:</a:t>
            </a: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Bidirectional processing introduces gradient conflicts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6658" y="4362450"/>
            <a:ext cx="3152696" cy="51435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Diminishing Returns:</a:t>
            </a: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Extra computational cost not justified by marginal improvement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2360" y="5057775"/>
            <a:ext cx="326699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F1 Score: 0.642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124621" y="1418492"/>
            <a:ext cx="304792" cy="28721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543711" y="1371600"/>
            <a:ext cx="1276318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Autoencoder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24621" y="2200275"/>
            <a:ext cx="838179" cy="38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77098" y="1933574"/>
            <a:ext cx="2505012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Why Anomaly Detection Was Weak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29414" y="2619374"/>
            <a:ext cx="3152696" cy="51435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Subtle Anomalies:</a:t>
            </a: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Failure indicators are not extreme outliers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29414" y="3209925"/>
            <a:ext cx="3152696" cy="51435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Threshold Selection:</a:t>
            </a: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Difficult to define optimal reconstruction error boundary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29414" y="3800475"/>
            <a:ext cx="3152696" cy="51435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Class Overlap:</a:t>
            </a: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Normal and failure states share similar feature distributions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29414" y="4391025"/>
            <a:ext cx="3152696" cy="51435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Unsupervised Limitation:</a:t>
            </a: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Lack of labeled data during training phase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5117" y="5057775"/>
            <a:ext cx="326699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F1 Score: 0.588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6278" y="5591175"/>
            <a:ext cx="10705832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Deep learning models underperformed due to the lack of strong temporal dependencies and the nature of server telemetry data, which benefits more from feature-based learning than sequential pattern recognition.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457200"/>
            <a:ext cx="1097252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Explainable AI (SHAP Analysis)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584" y="1104900"/>
            <a:ext cx="914377" cy="38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1478031"/>
            <a:ext cx="266693" cy="1681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09584" y="1895474"/>
            <a:ext cx="5295767" cy="1904999"/>
          </a:xfrm>
          <a:prstGeom prst="rect">
            <a:avLst/>
          </a:prstGeom>
          <a:solidFill>
            <a:srgbClr val="FAFAFA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8634" y="2562224"/>
            <a:ext cx="2285942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[SHAP Force Plot Visualization]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14577" y="2657475"/>
            <a:ext cx="2971725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Shows feature contributions to individual predictions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" y="3952874"/>
            <a:ext cx="5295767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Red features:</a:t>
            </a: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Push prediction higher (toward failure)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" y="4286250"/>
            <a:ext cx="5295767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Blue features:</a:t>
            </a: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Push prediction lower (toward normal)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" y="4619625"/>
            <a:ext cx="5295767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Feature magnitude:</a:t>
            </a: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Indicates strength of contribution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286342" y="1459188"/>
            <a:ext cx="266693" cy="20582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286342" y="1895474"/>
            <a:ext cx="5295767" cy="1904999"/>
          </a:xfrm>
          <a:prstGeom prst="rect">
            <a:avLst/>
          </a:prstGeom>
          <a:solidFill>
            <a:srgbClr val="FAFAFA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5392" y="2562224"/>
            <a:ext cx="2390715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[SHAP Dependence Plot Visualization]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6107" y="2657475"/>
            <a:ext cx="2866953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Shows relationship between feature value and SHAP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6342" y="3952874"/>
            <a:ext cx="5295767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X-axis:</a:t>
            </a: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Feature value (e.g., Error Rate)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6342" y="4286250"/>
            <a:ext cx="5295767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Y-axis:</a:t>
            </a: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SHAP value (impact on prediction)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6342" y="4619625"/>
            <a:ext cx="5295767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Color:</a:t>
            </a: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Interaction with another feature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278" y="5181599"/>
            <a:ext cx="1070583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780"/>
              </a:spcAft>
            </a:pPr>
            <a:r>
              <a:rPr sz="1435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Model Interpretability Insights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6278" y="5638799"/>
            <a:ext cx="10705832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Error Rate:</a:t>
            </a: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Strongest predictor - high values significantly increase failure probability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278" y="5972175"/>
            <a:ext cx="10705832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Disk IO:</a:t>
            </a: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Moderate impact - extreme values contribute to failure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6278" y="6305550"/>
            <a:ext cx="10705832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Network Latency:</a:t>
            </a: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Non-linear relationship - threshold effect on failure prediction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6278" y="6638924"/>
            <a:ext cx="10705832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Feature Interactions:</a:t>
            </a: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SHAP reveals combined effects not visible in feature importance alone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457200"/>
            <a:ext cx="1097252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Deployment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584" y="1104900"/>
            <a:ext cx="914377" cy="38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1457739"/>
            <a:ext cx="266693" cy="20872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09584" y="1895474"/>
            <a:ext cx="5333866" cy="1714500"/>
          </a:xfrm>
          <a:prstGeom prst="rect">
            <a:avLst/>
          </a:prstGeom>
          <a:solidFill>
            <a:srgbClr val="FAFAFA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4852" y="2609850"/>
            <a:ext cx="1943051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[Streamlit UI Dashboard]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47903" y="2676524"/>
            <a:ext cx="280027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Real-time monitoring and prediction interface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" y="3762374"/>
            <a:ext cx="5333866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Interactive Controls:</a:t>
            </a: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Input sliders for server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" y="4095749"/>
            <a:ext cx="5333866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Visual Indicators:</a:t>
            </a: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Risk level color coding (Green/Yellow/Red)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" y="4429125"/>
            <a:ext cx="5333866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Dashboard Layout:</a:t>
            </a: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Metrics, predictions, and visualizations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248243" y="1457739"/>
            <a:ext cx="266693" cy="208721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248243" y="1895474"/>
            <a:ext cx="5333866" cy="1714500"/>
          </a:xfrm>
          <a:prstGeom prst="rect">
            <a:avLst/>
          </a:prstGeom>
          <a:solidFill>
            <a:srgbClr val="FAFAFA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67353" y="2609850"/>
            <a:ext cx="1809704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[Telemetry Input Form]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7533" y="2676524"/>
            <a:ext cx="229546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Server metric input and configuration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8243" y="3762374"/>
            <a:ext cx="5333866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Input Fields:</a:t>
            </a: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CPU, Memory, Disk IO, Network Latency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8243" y="4095749"/>
            <a:ext cx="5333866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Error Rate:</a:t>
            </a: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Direct input for system error counts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8243" y="4429125"/>
            <a:ext cx="5333866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Timestamp:</a:t>
            </a: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Hourly telemetry data entry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179" y="4914900"/>
            <a:ext cx="3276518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780"/>
              </a:spcAft>
            </a:pPr>
            <a:r>
              <a:rPr sz="1435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Risk Prediction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179" y="5372100"/>
            <a:ext cx="3276518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Real-time failure probability calculation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179" y="5705475"/>
            <a:ext cx="3276518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Probability range: 0% to 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179" y="6038849"/>
            <a:ext cx="3276518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Continuous risk assessment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885" y="4914900"/>
            <a:ext cx="3276518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780"/>
              </a:spcAft>
            </a:pPr>
            <a:r>
              <a:rPr sz="1435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Failure Probability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885" y="5372100"/>
            <a:ext cx="3276518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Machine learning model 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1885" y="5705475"/>
            <a:ext cx="3276518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Confidence score visualization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1885" y="6038849"/>
            <a:ext cx="3276518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Historical trend comparison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5592" y="4914900"/>
            <a:ext cx="3276518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780"/>
              </a:spcAft>
            </a:pPr>
            <a:r>
              <a:rPr sz="1435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Risk Levels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5592" y="5372100"/>
            <a:ext cx="3276518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Low (0-30%):</a:t>
            </a: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Normal operation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5592" y="5705475"/>
            <a:ext cx="3276518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Medium (31-70%):</a:t>
            </a: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Warning state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5592" y="6038849"/>
            <a:ext cx="3276518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High (71-100%):</a:t>
            </a: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Critical alert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457200"/>
            <a:ext cx="1097252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Risk Prediction Examples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584" y="1104900"/>
            <a:ext cx="914377" cy="38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" y="1371600"/>
            <a:ext cx="3505112" cy="4067174"/>
          </a:xfrm>
          <a:prstGeom prst="rect">
            <a:avLst/>
          </a:prstGeom>
          <a:solidFill>
            <a:srgbClr val="FAFAFA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680796"/>
            <a:ext cx="304792" cy="2579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76318" y="1619250"/>
            <a:ext cx="971525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Low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28" y="2143125"/>
            <a:ext cx="3009824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Telemetry Values: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28" y="2476499"/>
            <a:ext cx="3009824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CPU Usage: 32%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28" y="2743200"/>
            <a:ext cx="3009824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Memory Usage: 45%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28" y="3009900"/>
            <a:ext cx="3009824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Disk IO: 120 ops/sec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228" y="3276599"/>
            <a:ext cx="3009824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Network Latency: 12 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228" y="3543300"/>
            <a:ext cx="3009824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Error Rate: 0.02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228" y="3924299"/>
            <a:ext cx="3009824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Prediction Output: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7228" y="4257675"/>
            <a:ext cx="3009824" cy="933449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1050" y="4381499"/>
            <a:ext cx="276218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Failure Probability: </a:t>
            </a:r>
            <a:r>
              <a:rPr sz="95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12%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1050" y="4610099"/>
            <a:ext cx="276218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Risk Level: </a:t>
            </a:r>
            <a:r>
              <a:rPr sz="956" b="1">
                <a:solidFill>
                  <a:srgbClr val="4CAF50"/>
                </a:solidFill>
                <a:latin typeface="Times New Roman"/>
                <a:rFonts ascii="Times New Roman" hAnsi="Times New Roman" eastAsia="Times New Roman" cs="Times New Roman"/>
              </a:rPr>
              <a:t>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1050" y="4838699"/>
            <a:ext cx="276218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Action: </a:t>
            </a:r>
            <a:r>
              <a:rPr sz="95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Monitor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291" y="1371600"/>
            <a:ext cx="3505112" cy="4067174"/>
          </a:xfrm>
          <a:prstGeom prst="rect">
            <a:avLst/>
          </a:prstGeom>
          <a:solidFill>
            <a:srgbClr val="FAFAFA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590935" y="1686657"/>
            <a:ext cx="304792" cy="24618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010024" y="1619250"/>
            <a:ext cx="1352516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Medium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935" y="2143125"/>
            <a:ext cx="3009824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Telemetry Values: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0935" y="2476499"/>
            <a:ext cx="3009824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CPU Usage: 78%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935" y="2743200"/>
            <a:ext cx="3009824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Memory Usage: 82%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935" y="3009900"/>
            <a:ext cx="3009824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Disk IO: 580 ops/sec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935" y="3276599"/>
            <a:ext cx="3009824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Network Latency: 45 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0935" y="3543300"/>
            <a:ext cx="3009824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Error Rate: 0.15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0935" y="3924299"/>
            <a:ext cx="3009824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Prediction Output: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90935" y="4257675"/>
            <a:ext cx="3009824" cy="933449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14757" y="4381499"/>
            <a:ext cx="276218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Failure Probability: </a:t>
            </a:r>
            <a:r>
              <a:rPr sz="95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58%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14757" y="4610099"/>
            <a:ext cx="276218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Risk Level: </a:t>
            </a:r>
            <a:r>
              <a:rPr sz="956" b="1">
                <a:solidFill>
                  <a:srgbClr val="FF9800"/>
                </a:solidFill>
                <a:latin typeface="Times New Roman"/>
                <a:rFonts ascii="Times New Roman" hAnsi="Times New Roman" eastAsia="Times New Roman" cs="Times New Roman"/>
              </a:rPr>
              <a:t>MEDIUM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14757" y="4838699"/>
            <a:ext cx="276218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Action: </a:t>
            </a:r>
            <a:r>
              <a:rPr sz="95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Investigate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76998" y="1371600"/>
            <a:ext cx="3505112" cy="4067174"/>
          </a:xfrm>
          <a:prstGeom prst="rect">
            <a:avLst/>
          </a:prstGeom>
          <a:solidFill>
            <a:srgbClr val="FAFAFA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324641" y="1680796"/>
            <a:ext cx="304792" cy="25790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743731" y="1619250"/>
            <a:ext cx="1009624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High Risk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4641" y="2143125"/>
            <a:ext cx="3009824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Telemetry Values: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4641" y="2476499"/>
            <a:ext cx="3009824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CPU Usage: 95%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4641" y="2743200"/>
            <a:ext cx="3009824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Memory Usage: 93%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4641" y="3009900"/>
            <a:ext cx="3009824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Disk IO: 1240 ops/sec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4641" y="3276599"/>
            <a:ext cx="3009824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Network Latency: 98 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4641" y="3543300"/>
            <a:ext cx="3009824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Error Rate: 0.42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4641" y="3924299"/>
            <a:ext cx="3009824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Prediction Output: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24641" y="4257675"/>
            <a:ext cx="3009824" cy="933449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48463" y="4381499"/>
            <a:ext cx="276218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Failure Probability: </a:t>
            </a:r>
            <a:r>
              <a:rPr sz="95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89%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48463" y="4610099"/>
            <a:ext cx="276218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Risk Level: </a:t>
            </a:r>
            <a:r>
              <a:rPr sz="956" b="1">
                <a:solidFill>
                  <a:srgbClr val="F44336"/>
                </a:solidFill>
                <a:latin typeface="Times New Roman"/>
                <a:rFonts ascii="Times New Roman" hAnsi="Times New Roman" eastAsia="Times New Roman" cs="Times New Roman"/>
              </a:rPr>
              <a:t>HIGH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48463" y="4838699"/>
            <a:ext cx="276218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Action: </a:t>
            </a:r>
            <a:r>
              <a:rPr sz="95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Immediate Intervention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6278" y="5743575"/>
            <a:ext cx="1070583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The hybrid risk engine combines ML predictions with operational thresholds to provide actionable risk levels and recommended actions.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457200"/>
            <a:ext cx="1097252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Hybrid Risk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584" y="1104900"/>
            <a:ext cx="914377" cy="38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38179" y="1444869"/>
            <a:ext cx="304792" cy="2344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57268" y="1371600"/>
            <a:ext cx="1438239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ML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179" y="1895474"/>
            <a:ext cx="3228894" cy="51435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Data-driven approach:</a:t>
            </a: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Learns from historical telemetry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179" y="2486025"/>
            <a:ext cx="3228894" cy="51435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Pattern recognition:</a:t>
            </a: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Identifies complex failure signatures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179" y="3076574"/>
            <a:ext cx="3228894" cy="51435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Probability output:</a:t>
            </a: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Provides failure likelihood 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179" y="3667124"/>
            <a:ext cx="3228894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Adaptive learning:</a:t>
            </a: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Improves with new data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600459" y="1453661"/>
            <a:ext cx="304792" cy="2168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19549" y="1371600"/>
            <a:ext cx="1790655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Operational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0459" y="1895474"/>
            <a:ext cx="3228894" cy="51435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Domain knowledge:</a:t>
            </a: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Expert-defined thresholds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0459" y="2486025"/>
            <a:ext cx="3228894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Safety constraints:</a:t>
            </a: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Critical value boundaries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0459" y="2819399"/>
            <a:ext cx="3228894" cy="51435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Business logic:</a:t>
            </a: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SLA compliance requirements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0459" y="3409950"/>
            <a:ext cx="3228894" cy="51435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Override capability:</a:t>
            </a: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Human intervention points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353216" y="1450730"/>
            <a:ext cx="304792" cy="22273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72305" y="1371600"/>
            <a:ext cx="1847803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Hybrid 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3216" y="1895474"/>
            <a:ext cx="3228894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Rule-based validation:</a:t>
            </a: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Validates ML outputs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3216" y="2228850"/>
            <a:ext cx="3228894" cy="51435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Confidence adjustment:</a:t>
            </a: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Modifies prediction certainty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3216" y="2819399"/>
            <a:ext cx="3228894" cy="51435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Contextual weighting:</a:t>
            </a: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Adjusts feature importance dynamically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3216" y="3409950"/>
            <a:ext cx="3228894" cy="51435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Fail-safe mechanisms:</a:t>
            </a: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Ensures system reliability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09584" y="4208584"/>
            <a:ext cx="304792" cy="26963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28674" y="4152899"/>
            <a:ext cx="3352716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Why Hybrid Improves Reliability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584" y="4676775"/>
            <a:ext cx="5333866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Reduces false positives:</a:t>
            </a: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Rules filter ML prediction errors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584" y="5010149"/>
            <a:ext cx="5333866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Catches edge cases:</a:t>
            </a: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Handles scenarios ML might miss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584" y="5343525"/>
            <a:ext cx="5333866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Explainable decisions:</a:t>
            </a: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Combines statistical and logical reasoning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584" y="5676900"/>
            <a:ext cx="5333866" cy="51435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Robust to data drift:</a:t>
            </a: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Rules maintain performance despite distribution changes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248243" y="4226169"/>
            <a:ext cx="304792" cy="234461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667333" y="4152899"/>
            <a:ext cx="2114497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Enterprise Relevance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8243" y="4676775"/>
            <a:ext cx="5333866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Compliance ready:</a:t>
            </a: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Meets industry regulatory requirements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48243" y="5010149"/>
            <a:ext cx="5333866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Audit trail:</a:t>
            </a: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Provides clear decision rationale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48243" y="5343525"/>
            <a:ext cx="5333866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Scalable deployment:</a:t>
            </a: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Applicable across server fleets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48243" y="5676900"/>
            <a:ext cx="5333866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Operational trust:</a:t>
            </a: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Acceptable to IT operations teams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6278" y="6419850"/>
            <a:ext cx="10705832" cy="5143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The hybrid approach combines the adaptive learning capability of ML with the deterministic reliability of operational rules, creating a robust and trustworthy risk assessment system suitable for enterprise deployment.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457200"/>
            <a:ext cx="1097252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Advantages of the Proposed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584" y="1104900"/>
            <a:ext cx="914377" cy="38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38179" y="1429992"/>
            <a:ext cx="266693" cy="2261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19169" y="1371600"/>
            <a:ext cx="220021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Early Failure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179" y="1828800"/>
            <a:ext cx="3276518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Identifies failure indicators before critical threshold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179" y="2095499"/>
            <a:ext cx="3276518" cy="4572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Lead time enables preventive maintenance scheduling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179" y="2590799"/>
            <a:ext cx="3276518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Reduces unexpected outages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179" y="2857500"/>
            <a:ext cx="3276518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Improves service reliability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571885" y="1470577"/>
            <a:ext cx="266693" cy="14494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952876" y="1371600"/>
            <a:ext cx="181922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Reduced Downtime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885" y="1828800"/>
            <a:ext cx="3276518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Proactive intervention prevents failures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885" y="2095499"/>
            <a:ext cx="3276518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Minimized unplanned service interruptions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885" y="2362199"/>
            <a:ext cx="3276518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Decreased Mean Time to Repair (MTTR)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885" y="2628900"/>
            <a:ext cx="3276518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Significant cost savings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305592" y="1447385"/>
            <a:ext cx="266693" cy="19132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686582" y="1371600"/>
            <a:ext cx="1990675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Improved Monitoring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5592" y="1828800"/>
            <a:ext cx="3276518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Continuous telemetry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5592" y="2095499"/>
            <a:ext cx="3276518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Multi-metric health assessment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5592" y="2362199"/>
            <a:ext cx="3276518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Anomaly detection capability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5592" y="2628900"/>
            <a:ext cx="3276518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Comprehensive system visibility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38179" y="3381789"/>
            <a:ext cx="266693" cy="20872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219169" y="3314700"/>
            <a:ext cx="1381090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Explainable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179" y="3771900"/>
            <a:ext cx="3276518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SHAP-based interpretability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179" y="4038599"/>
            <a:ext cx="3276518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Transparent prediction rationale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179" y="4305300"/>
            <a:ext cx="3276518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Feature contribution analysis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179" y="4572000"/>
            <a:ext cx="3276518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Builds operator trust and confidence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571885" y="3391935"/>
            <a:ext cx="266693" cy="18842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952876" y="3314700"/>
            <a:ext cx="221926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Real-time Risk Analysis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1885" y="3771900"/>
            <a:ext cx="3276518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Instant failure probability assessment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1885" y="4038599"/>
            <a:ext cx="3276518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Dynamic risk level categorization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1885" y="4305300"/>
            <a:ext cx="3276518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Automated alert generation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1885" y="4572000"/>
            <a:ext cx="3276518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Rapid response capability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305592" y="3545991"/>
            <a:ext cx="266693" cy="22321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686582" y="3314700"/>
            <a:ext cx="2895527" cy="685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Deployment-ready Architecture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05592" y="4114800"/>
            <a:ext cx="3276518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Scalable Streamlit interface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05592" y="4381499"/>
            <a:ext cx="3276518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RESTful API integration ready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05592" y="4648200"/>
            <a:ext cx="3276518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Containerized deployment support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05592" y="4914900"/>
            <a:ext cx="3276518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Production environment tested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6278" y="5372100"/>
            <a:ext cx="10705832" cy="5143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The proposed system combines predictive accuracy with operational practicality, delivering a comprehensive solution for enterprise server maintenance challenges.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457200"/>
            <a:ext cx="1097252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584" y="1104900"/>
            <a:ext cx="914377" cy="38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76278" y="2082311"/>
            <a:ext cx="304792" cy="2168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95367" y="2009774"/>
            <a:ext cx="1809704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Simulated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278" y="2571750"/>
            <a:ext cx="3190795" cy="51435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Artificial data generation:</a:t>
            </a: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May not capture real-world variability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278" y="3200400"/>
            <a:ext cx="3190795" cy="51435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Simplified failure patterns:</a:t>
            </a: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Actual failures can be more complex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278" y="3829050"/>
            <a:ext cx="3190795" cy="51435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Limited anomaly types:</a:t>
            </a: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Dataset contains predefined failure scenarios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278" y="4457700"/>
            <a:ext cx="3190795" cy="51435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Distribution assumptions:</a:t>
            </a: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Real telemetry may exhibit different statistical properties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638559" y="2108688"/>
            <a:ext cx="304792" cy="16412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57648" y="2009774"/>
            <a:ext cx="2685982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Weak Temporal Continuity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8559" y="2571750"/>
            <a:ext cx="3190795" cy="51435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Hourly sampling rate:</a:t>
            </a: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Misses sub-hourly patterns and trends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8559" y="3200400"/>
            <a:ext cx="3190795" cy="51435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Limited time series depth:</a:t>
            </a: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Insufficient historical context for long-term dependencies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8559" y="3829050"/>
            <a:ext cx="3190795" cy="51435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Gap in temporal resolution:</a:t>
            </a: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Rapid degradation phases may be undersampled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8559" y="4457700"/>
            <a:ext cx="3190795" cy="51435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Reduced sequential learning:</a:t>
            </a: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Affects LSTM and time-series model performance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391315" y="2237642"/>
            <a:ext cx="304792" cy="28721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810404" y="2009774"/>
            <a:ext cx="2771705" cy="742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Limited Real-world Telemetry Complexity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1315" y="2943225"/>
            <a:ext cx="3190795" cy="51435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Feature scope:</a:t>
            </a: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Real servers have additional telemetry dimensions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1315" y="3571875"/>
            <a:ext cx="3190795" cy="51435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Missing metrics:</a:t>
            </a: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Hardware sensors, application logs, environmental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1315" y="4200525"/>
            <a:ext cx="3190795" cy="51435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Simplified interactions:</a:t>
            </a: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Actual feature correlations are more nuanced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1315" y="4829175"/>
            <a:ext cx="3190795" cy="51435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</a:t>
            </a: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Operational context:</a:t>
            </a: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Lacks workload type, user patterns, maintenance history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6278" y="5648325"/>
            <a:ext cx="10705832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These limitations highlight areas for future improvement and should be considered when interpreting the model's performance in real-world deployment scenarios.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457200"/>
            <a:ext cx="1097252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584" y="1104900"/>
            <a:ext cx="914377" cy="38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38179" y="1429992"/>
            <a:ext cx="266693" cy="2261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19169" y="1371600"/>
            <a:ext cx="2876478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Real-time Streaming Telemetry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179" y="1828800"/>
            <a:ext cx="3276518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Continuous data ingestion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179" y="2095499"/>
            <a:ext cx="3276518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Sub-second monitoring intervals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179" y="2362199"/>
            <a:ext cx="3276518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Apache Kafka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179" y="2628900"/>
            <a:ext cx="3276518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Real-time feature extraction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179" y="2895600"/>
            <a:ext cx="3276518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Immediate failure detection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571885" y="1438689"/>
            <a:ext cx="266693" cy="2087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952876" y="1371600"/>
            <a:ext cx="1390615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IoT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885" y="1828800"/>
            <a:ext cx="3276518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Edge device monitoring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885" y="2095499"/>
            <a:ext cx="3276518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Sensor network expansion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885" y="2362199"/>
            <a:ext cx="3276518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Environmental telemetry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1885" y="2628900"/>
            <a:ext cx="3276518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Hardware health metrics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1885" y="2895600"/>
            <a:ext cx="3276518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Distributed data collection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305592" y="1447385"/>
            <a:ext cx="266693" cy="19132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686582" y="1371600"/>
            <a:ext cx="174303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Cloud Deployment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5592" y="1828800"/>
            <a:ext cx="3276518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AWS/Azure/GCP 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5592" y="2095499"/>
            <a:ext cx="3276518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Auto-scaling infrastructure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5592" y="2362199"/>
            <a:ext cx="3276518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Serverless model serving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5592" y="2628900"/>
            <a:ext cx="3276518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Multi-region deployment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5592" y="2895600"/>
            <a:ext cx="3276518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High availability architecture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38179" y="3419889"/>
            <a:ext cx="266693" cy="208721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219169" y="3352800"/>
            <a:ext cx="214307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Kubernetes Monitoring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179" y="3809999"/>
            <a:ext cx="3276518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Container orchestration metrics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179" y="4076699"/>
            <a:ext cx="3276518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Pod health monitoring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179" y="4343400"/>
            <a:ext cx="3276518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Resource usage tracking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179" y="4610099"/>
            <a:ext cx="3276518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Service mesh telemetry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179" y="4876800"/>
            <a:ext cx="3276518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Cluster-level failure prediction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571885" y="3399596"/>
            <a:ext cx="266693" cy="24930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952876" y="3352800"/>
            <a:ext cx="2057348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Advanced ML Models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1885" y="3809999"/>
            <a:ext cx="3276518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Transformer architectures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1885" y="4076699"/>
            <a:ext cx="3276518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GRU-based networks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1885" y="4343400"/>
            <a:ext cx="3276518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Attention mechanisms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1885" y="4610099"/>
            <a:ext cx="3276518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Multi-task learning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1885" y="4876800"/>
            <a:ext cx="3276518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Federated learning approach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305592" y="3412641"/>
            <a:ext cx="266693" cy="223216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686582" y="3352800"/>
            <a:ext cx="2047823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Live Alerting Systems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05592" y="3809999"/>
            <a:ext cx="3276518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Multi-channel notifications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05592" y="4076699"/>
            <a:ext cx="3276518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Severity-based alert routing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05592" y="4343400"/>
            <a:ext cx="3276518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Integration with ITSM tools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05592" y="4610099"/>
            <a:ext cx="3276518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Automated incident creation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05592" y="4876800"/>
            <a:ext cx="3276518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Escalation workflows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6278" y="5334000"/>
            <a:ext cx="1070583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These future enhancements will transform the system from a predictive maintenance tool into a comprehensive, enterprise-grade observability platform.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457200"/>
            <a:ext cx="1097252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584" y="1104900"/>
            <a:ext cx="914377" cy="38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76278" y="1614121"/>
            <a:ext cx="304792" cy="2579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95367" y="1371600"/>
            <a:ext cx="4648083" cy="742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Successful Predictive Maintenance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278" y="2266950"/>
            <a:ext cx="5067173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Developed comprehensive AI-driven prediction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278" y="2600325"/>
            <a:ext cx="5067173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Achieved early failure detection capability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278" y="2933699"/>
            <a:ext cx="5067173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Implemented hybrid risk engine combining ML and 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278" y="3267075"/>
            <a:ext cx="5067173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Deployed user-friendly Streamlit interface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278" y="3600450"/>
            <a:ext cx="5067173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Demonstrated practical application in IT infrastructure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514937" y="1444869"/>
            <a:ext cx="304792" cy="23446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934026" y="1371600"/>
            <a:ext cx="4105172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Optimized Random Forest as Best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4937" y="1895474"/>
            <a:ext cx="5067173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F1 Score: 0.837 - balanced precision and recall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4937" y="2228850"/>
            <a:ext cx="5067173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Recall: 0.989 - captures nearly all failure instances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4937" y="2562224"/>
            <a:ext cx="5067173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Outperformed deep learning models on tabular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4937" y="2895600"/>
            <a:ext cx="5067173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Robust to data variations and noise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4937" y="3228975"/>
            <a:ext cx="5067173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Efficient inference time for real-time deployment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76278" y="4139711"/>
            <a:ext cx="304792" cy="25497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95367" y="4086225"/>
            <a:ext cx="2457388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Practical AI Deployment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278" y="4610099"/>
            <a:ext cx="5067173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Production-ready architecture with Streamlit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6278" y="4943475"/>
            <a:ext cx="5067173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Real-time risk assessment and monitoring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6278" y="5276850"/>
            <a:ext cx="5067173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Scalable to enterprise server environments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6278" y="5610224"/>
            <a:ext cx="5067173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Integration-ready with existing IT systems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6278" y="5943600"/>
            <a:ext cx="5067173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Actionable insights for maintenance teams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514937" y="4167553"/>
            <a:ext cx="304792" cy="19929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934026" y="4086225"/>
            <a:ext cx="3828954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Importance of Explainable Monitoring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4937" y="4610099"/>
            <a:ext cx="5067173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SHAP analysis provides transparent predictions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4937" y="4943475"/>
            <a:ext cx="5067173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Enables operator understanding and trust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4937" y="5276850"/>
            <a:ext cx="5067173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Critical for enterprise compliance requirements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4937" y="5610224"/>
            <a:ext cx="5067173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Facilitates human-in-the-loop decision making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4937" y="5943600"/>
            <a:ext cx="5067173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• Bridges gap between AI capability and operational needs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6278" y="6429375"/>
            <a:ext cx="10705832" cy="5143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This project demonstrates that combining machine learning with explainable AI and hybrid rule engines creates a reliable, practical solution for server failure prediction in enterprise environments.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457200"/>
            <a:ext cx="1097252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584" y="1104900"/>
            <a:ext cx="914377" cy="38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1447385"/>
            <a:ext cx="266693" cy="1913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90575" y="1371600"/>
            <a:ext cx="68578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674" y="1866899"/>
            <a:ext cx="4914777" cy="4572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Kaggle. (2023). </a:t>
            </a: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Server Telemetry Dataset for Predictive Maintenance</a:t>
            </a: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. Retrieved from https://www.kaggle.com/datasets/server-telemetry-predictive-maintenance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09584" y="2651677"/>
            <a:ext cx="266693" cy="14494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90575" y="2552700"/>
            <a:ext cx="1533486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Python Libraries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8674" y="3047999"/>
            <a:ext cx="4914777" cy="4572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Pedregosa, F., et al. (2011). Scikit-learn: Machine Learning in Python. </a:t>
            </a: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JMLR</a:t>
            </a: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, 12, 2825-2830.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674" y="3581400"/>
            <a:ext cx="4914777" cy="4572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Chen, T., &amp; Guestrin, C. (2016). XGBoost: A Scalable Tree Boosting System. </a:t>
            </a: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Proceedings of the 22nd ACM SIGKDD</a:t>
            </a: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, 785-794.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674" y="4114800"/>
            <a:ext cx="4914777" cy="4572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Abadi, M., et al. (2016). TensorFlow: A System for Large-Scale Machine Learning. </a:t>
            </a: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OSDI</a:t>
            </a: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, 16, 265-283.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674" y="4648200"/>
            <a:ext cx="4914777" cy="4572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Lundberg, S. M., &amp; Lee, S. I. (2017). A Unified Approach to Interpreting Model Predictions. </a:t>
            </a: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NeurIPS</a:t>
            </a: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, 4765-4774.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248243" y="1438689"/>
            <a:ext cx="266693" cy="20872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629234" y="1371600"/>
            <a:ext cx="150491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Research Papers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7333" y="1866899"/>
            <a:ext cx="4914777" cy="6858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Zhang, W., et al. (2019). A Predictive Maintenance Framework for IT Infrastructure Using Machine Learning. </a:t>
            </a: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IEEE Transactions on Reliability</a:t>
            </a: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, 68(4), 1234-1248.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7333" y="2628900"/>
            <a:ext cx="4914777" cy="6858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Carvalho, T. P., et al. (2019). A Systematic Literature Review on Machine Learning Methods for Predictive Maintenance. </a:t>
            </a: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Computers &amp; Industrial Engineering</a:t>
            </a: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, 137, 106024.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7333" y="3390899"/>
            <a:ext cx="4914777" cy="4572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Serrano, W., &amp; Diggle, T. (2020). Digital Systems in Smart City and Infrastructure. </a:t>
            </a: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Springer</a:t>
            </a: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248243" y="4143789"/>
            <a:ext cx="266693" cy="20872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629234" y="4076699"/>
            <a:ext cx="1771605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ML/DL References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7333" y="4572000"/>
            <a:ext cx="4914777" cy="4572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Hochreiter, S., &amp; Schmidhuber, J. (1997). Long Short-Term Memory. </a:t>
            </a: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Neural Computation</a:t>
            </a: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, 9(8), 1735-1780.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7333" y="5105400"/>
            <a:ext cx="4914777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Breiman, L. (2001). Random Forests. </a:t>
            </a: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Machine Learning</a:t>
            </a: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, 45(1), 5-32.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7333" y="5410199"/>
            <a:ext cx="4914777" cy="4572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Graves, A., &amp; Schmidhuber, J. (2005). Framewise Phoneme Classification with Bidirectional LSTM. </a:t>
            </a: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IJCNN</a:t>
            </a: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, 4, 2042-2047.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7333" y="5943600"/>
            <a:ext cx="4914777" cy="4572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Hinton, G. E., &amp; Salakhutdinov, R. R. (2006). Reducing the Dimensionality of Data with Neural Networks. </a:t>
            </a: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Science</a:t>
            </a:r>
            <a:r>
              <a:rPr sz="95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, 313(5786), 504-507.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62340" y="533399"/>
            <a:ext cx="3467013" cy="10001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6825"/>
              </a:lnSpc>
              <a:spcBef>
                <a:spcPts val="0"/>
              </a:spcBef>
              <a:spcAft>
                <a:spcPts val="0"/>
              </a:spcAft>
            </a:pPr>
            <a:r>
              <a:rPr sz="418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262" y="1752599"/>
            <a:ext cx="1219169" cy="38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62340" y="2247899"/>
            <a:ext cx="3467013" cy="5143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3510"/>
              </a:lnSpc>
              <a:spcBef>
                <a:spcPts val="0"/>
              </a:spcBef>
              <a:spcAft>
                <a:spcPts val="0"/>
              </a:spcAft>
            </a:pPr>
            <a:r>
              <a:rPr sz="2152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62340" y="3695699"/>
            <a:ext cx="3467013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1040"/>
              </a:spcAft>
            </a:pPr>
            <a:r>
              <a:rPr sz="119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Project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62340" y="4133849"/>
            <a:ext cx="150491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[Team Member 1]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62340" y="4381499"/>
            <a:ext cx="150491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Roll No: [XXXX]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441" y="4133849"/>
            <a:ext cx="150491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[Team Member 3]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441" y="4381499"/>
            <a:ext cx="150491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Roll No: [XXXX]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62340" y="4762500"/>
            <a:ext cx="150491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[Team Member 2]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2340" y="5010149"/>
            <a:ext cx="150491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Roll No: [XXXX]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441" y="4762500"/>
            <a:ext cx="150491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[Team Member 4]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441" y="5010149"/>
            <a:ext cx="150491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Roll No: [XXXX]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2340" y="5734050"/>
            <a:ext cx="3467013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Department of Computer Science and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2340" y="6076950"/>
            <a:ext cx="3467013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[College Name] • Academic Year 2025-2026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{"Label":"1","ContentProducer":"001191110108MA01KP2T5U00000","ProduceID":"c9b8a21154eda188279978e9c5e4e56e","ReservedCode1":"","ContentPropagator":"001191110108MA01KP2T5U00000","PropagateID":"c9b8a21154eda188279978e9c5e4e56e","ReservedCode2":""}</vt:lpwstr>
  </property>
</Properties>
</file>